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5cb1095974ab6" /><Relationship Type="http://schemas.openxmlformats.org/officeDocument/2006/relationships/extended-properties" Target="/docProps/app.xml" Id="R68de46e59675472c" /><Relationship Type="http://schemas.openxmlformats.org/officeDocument/2006/relationships/officeDocument" Target="/ppt/presentation.xml" Id="R7ab5d6cf73fd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ad3307c354492"/>
  </p:sldMasterIdLst>
  <p:notesMasterIdLst>
    <p:notesMasterId xmlns:r="http://schemas.openxmlformats.org/officeDocument/2006/relationships" r:id="R365a5fc12da24974"/>
  </p:notesMasterIdLst>
  <p:sldIdLst>
    <p:sldId xmlns:r="http://schemas.openxmlformats.org/officeDocument/2006/relationships" id="256" r:id="R9f098a857ae94af2"/>
    <p:sldId xmlns:r="http://schemas.openxmlformats.org/officeDocument/2006/relationships" id="257" r:id="Rc4099910861648a6"/>
    <p:sldId xmlns:r="http://schemas.openxmlformats.org/officeDocument/2006/relationships" id="258" r:id="R6e5e7c8fd2f84b60"/>
    <p:sldId xmlns:r="http://schemas.openxmlformats.org/officeDocument/2006/relationships" id="259" r:id="R991e2b3463ae46aa"/>
    <p:sldId xmlns:r="http://schemas.openxmlformats.org/officeDocument/2006/relationships" id="260" r:id="Reac2032c23174768"/>
    <p:sldId xmlns:r="http://schemas.openxmlformats.org/officeDocument/2006/relationships" id="261" r:id="Rdbe0b78b9fd14819"/>
    <p:sldId xmlns:r="http://schemas.openxmlformats.org/officeDocument/2006/relationships" id="262" r:id="R3e3ee2d562554bbb"/>
    <p:sldId xmlns:r="http://schemas.openxmlformats.org/officeDocument/2006/relationships" id="263" r:id="R6aa29bf965d14fee"/>
    <p:sldId xmlns:r="http://schemas.openxmlformats.org/officeDocument/2006/relationships" id="264" r:id="Re0c80cbdd9904e15"/>
    <p:sldId xmlns:r="http://schemas.openxmlformats.org/officeDocument/2006/relationships" id="265" r:id="R2b74148a22ad4271"/>
    <p:sldId xmlns:r="http://schemas.openxmlformats.org/officeDocument/2006/relationships" id="266" r:id="Rc64a489561ef4ada"/>
    <p:sldId xmlns:r="http://schemas.openxmlformats.org/officeDocument/2006/relationships" id="267" r:id="Rdd63b37b1b6f4b05"/>
    <p:sldId xmlns:r="http://schemas.openxmlformats.org/officeDocument/2006/relationships" id="268" r:id="R1797beb503384554"/>
    <p:sldId xmlns:r="http://schemas.openxmlformats.org/officeDocument/2006/relationships" id="269" r:id="R12c7ae0ffa264bfc"/>
    <p:sldId xmlns:r="http://schemas.openxmlformats.org/officeDocument/2006/relationships" id="270" r:id="R994e3e634c064bdb"/>
    <p:sldId xmlns:r="http://schemas.openxmlformats.org/officeDocument/2006/relationships" id="271" r:id="Ra2bbbe180ae64986"/>
    <p:sldId xmlns:r="http://schemas.openxmlformats.org/officeDocument/2006/relationships" id="272" r:id="R7f8f88e819024281"/>
    <p:sldId xmlns:r="http://schemas.openxmlformats.org/officeDocument/2006/relationships" id="273" r:id="R346f17eb766e45a2"/>
    <p:sldId xmlns:r="http://schemas.openxmlformats.org/officeDocument/2006/relationships" id="274" r:id="Rd64a45eb7a9f488d"/>
    <p:sldId xmlns:r="http://schemas.openxmlformats.org/officeDocument/2006/relationships" id="275" r:id="R1edc15d335054e43"/>
    <p:sldId xmlns:r="http://schemas.openxmlformats.org/officeDocument/2006/relationships" id="276" r:id="R73f1ed7f5a3d4d2a"/>
    <p:sldId xmlns:r="http://schemas.openxmlformats.org/officeDocument/2006/relationships" id="277" r:id="Rf4346ded5bf24223"/>
    <p:sldId xmlns:r="http://schemas.openxmlformats.org/officeDocument/2006/relationships" id="278" r:id="Ra3d937027677411a"/>
    <p:sldId xmlns:r="http://schemas.openxmlformats.org/officeDocument/2006/relationships" id="279" r:id="Rc82926cb079f42fe"/>
    <p:sldId xmlns:r="http://schemas.openxmlformats.org/officeDocument/2006/relationships" id="280" r:id="Ra95a1bce5f5b430b"/>
    <p:sldId xmlns:r="http://schemas.openxmlformats.org/officeDocument/2006/relationships" id="281" r:id="R1434d4e38f574cdc"/>
    <p:sldId xmlns:r="http://schemas.openxmlformats.org/officeDocument/2006/relationships" id="282" r:id="R5e3f0e359bcd4810"/>
    <p:sldId xmlns:r="http://schemas.openxmlformats.org/officeDocument/2006/relationships" id="283" r:id="Ra056020f12484c24"/>
    <p:sldId xmlns:r="http://schemas.openxmlformats.org/officeDocument/2006/relationships" id="284" r:id="R56128581574f4874"/>
    <p:sldId xmlns:r="http://schemas.openxmlformats.org/officeDocument/2006/relationships" id="285" r:id="Rbf824381017b492b"/>
    <p:sldId xmlns:r="http://schemas.openxmlformats.org/officeDocument/2006/relationships" id="286" r:id="R8695e077570e4ced"/>
    <p:sldId xmlns:r="http://schemas.openxmlformats.org/officeDocument/2006/relationships" id="287" r:id="R001e43c41c164c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ad3307c354492" /><Relationship Type="http://schemas.openxmlformats.org/officeDocument/2006/relationships/theme" Target="/ppt/theme/theme1.xml" Id="R6460bf61519f4edb" /><Relationship Type="http://schemas.openxmlformats.org/officeDocument/2006/relationships/notesMaster" Target="/ppt/notesMasters/notesMaster1.xml" Id="R365a5fc12da24974" /><Relationship Type="http://schemas.openxmlformats.org/officeDocument/2006/relationships/presProps" Target="/ppt/presProps.xml" Id="Rcc628a047fc14df3" /><Relationship Type="http://schemas.openxmlformats.org/officeDocument/2006/relationships/viewProps" Target="/ppt/viewProps.xml" Id="Rf55177fc45fb4675" /><Relationship Type="http://schemas.openxmlformats.org/officeDocument/2006/relationships/tableStyles" Target="/ppt/tableStyles.xml" Id="R761cc7bb439d4548" /><Relationship Type="http://schemas.openxmlformats.org/officeDocument/2006/relationships/slide" Target="/ppt/slides/slide1.xml" Id="R9f098a857ae94af2" /><Relationship Type="http://schemas.openxmlformats.org/officeDocument/2006/relationships/slide" Target="/ppt/slides/slide2.xml" Id="Rc4099910861648a6" /><Relationship Type="http://schemas.openxmlformats.org/officeDocument/2006/relationships/slide" Target="/ppt/slides/slide3.xml" Id="R6e5e7c8fd2f84b60" /><Relationship Type="http://schemas.openxmlformats.org/officeDocument/2006/relationships/slide" Target="/ppt/slides/slide4.xml" Id="R991e2b3463ae46aa" /><Relationship Type="http://schemas.openxmlformats.org/officeDocument/2006/relationships/slide" Target="/ppt/slides/slide5.xml" Id="Reac2032c23174768" /><Relationship Type="http://schemas.openxmlformats.org/officeDocument/2006/relationships/slide" Target="/ppt/slides/slide6.xml" Id="Rdbe0b78b9fd14819" /><Relationship Type="http://schemas.openxmlformats.org/officeDocument/2006/relationships/slide" Target="/ppt/slides/slide7.xml" Id="R3e3ee2d562554bbb" /><Relationship Type="http://schemas.openxmlformats.org/officeDocument/2006/relationships/slide" Target="/ppt/slides/slide8.xml" Id="R6aa29bf965d14fee" /><Relationship Type="http://schemas.openxmlformats.org/officeDocument/2006/relationships/slide" Target="/ppt/slides/slide9.xml" Id="Re0c80cbdd9904e15" /><Relationship Type="http://schemas.openxmlformats.org/officeDocument/2006/relationships/slide" Target="/ppt/slides/slide10.xml" Id="R2b74148a22ad4271" /><Relationship Type="http://schemas.openxmlformats.org/officeDocument/2006/relationships/slide" Target="/ppt/slides/slide11.xml" Id="Rc64a489561ef4ada" /><Relationship Type="http://schemas.openxmlformats.org/officeDocument/2006/relationships/slide" Target="/ppt/slides/slide12.xml" Id="Rdd63b37b1b6f4b05" /><Relationship Type="http://schemas.openxmlformats.org/officeDocument/2006/relationships/slide" Target="/ppt/slides/slide13.xml" Id="R1797beb503384554" /><Relationship Type="http://schemas.openxmlformats.org/officeDocument/2006/relationships/slide" Target="/ppt/slides/slide14.xml" Id="R12c7ae0ffa264bfc" /><Relationship Type="http://schemas.openxmlformats.org/officeDocument/2006/relationships/slide" Target="/ppt/slides/slide15.xml" Id="R994e3e634c064bdb" /><Relationship Type="http://schemas.openxmlformats.org/officeDocument/2006/relationships/slide" Target="/ppt/slides/slide16.xml" Id="Ra2bbbe180ae64986" /><Relationship Type="http://schemas.openxmlformats.org/officeDocument/2006/relationships/slide" Target="/ppt/slides/slide17.xml" Id="R7f8f88e819024281" /><Relationship Type="http://schemas.openxmlformats.org/officeDocument/2006/relationships/slide" Target="/ppt/slides/slide18.xml" Id="R346f17eb766e45a2" /><Relationship Type="http://schemas.openxmlformats.org/officeDocument/2006/relationships/slide" Target="/ppt/slides/slide19.xml" Id="Rd64a45eb7a9f488d" /><Relationship Type="http://schemas.openxmlformats.org/officeDocument/2006/relationships/slide" Target="/ppt/slides/slide20.xml" Id="R1edc15d335054e43" /><Relationship Type="http://schemas.openxmlformats.org/officeDocument/2006/relationships/slide" Target="/ppt/slides/slide21.xml" Id="R73f1ed7f5a3d4d2a" /><Relationship Type="http://schemas.openxmlformats.org/officeDocument/2006/relationships/slide" Target="/ppt/slides/slide22.xml" Id="Rf4346ded5bf24223" /><Relationship Type="http://schemas.openxmlformats.org/officeDocument/2006/relationships/slide" Target="/ppt/slides/slide23.xml" Id="Ra3d937027677411a" /><Relationship Type="http://schemas.openxmlformats.org/officeDocument/2006/relationships/slide" Target="/ppt/slides/slide24.xml" Id="Rc82926cb079f42fe" /><Relationship Type="http://schemas.openxmlformats.org/officeDocument/2006/relationships/slide" Target="/ppt/slides/slide25.xml" Id="Ra95a1bce5f5b430b" /><Relationship Type="http://schemas.openxmlformats.org/officeDocument/2006/relationships/slide" Target="/ppt/slides/slide26.xml" Id="R1434d4e38f574cdc" /><Relationship Type="http://schemas.openxmlformats.org/officeDocument/2006/relationships/slide" Target="/ppt/slides/slide27.xml" Id="R5e3f0e359bcd4810" /><Relationship Type="http://schemas.openxmlformats.org/officeDocument/2006/relationships/slide" Target="/ppt/slides/slide28.xml" Id="Ra056020f12484c24" /><Relationship Type="http://schemas.openxmlformats.org/officeDocument/2006/relationships/slide" Target="/ppt/slides/slide29.xml" Id="R56128581574f4874" /><Relationship Type="http://schemas.openxmlformats.org/officeDocument/2006/relationships/slide" Target="/ppt/slides/slide30.xml" Id="Rbf824381017b492b" /><Relationship Type="http://schemas.openxmlformats.org/officeDocument/2006/relationships/slide" Target="/ppt/slides/slide31.xml" Id="R8695e077570e4ced" /><Relationship Type="http://schemas.openxmlformats.org/officeDocument/2006/relationships/slide" Target="/ppt/slides/slide32.xml" Id="R001e43c41c164c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d1bd253be2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f6ca007814825" /><Relationship Type="http://schemas.openxmlformats.org/officeDocument/2006/relationships/notesMaster" Target="/ppt/notesMasters/notesMaster1.xml" Id="R8dd61197fc16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59d653d63843ef" /><Relationship Type="http://schemas.openxmlformats.org/officeDocument/2006/relationships/notesMaster" Target="/ppt/notesMasters/notesMaster1.xml" Id="R8a836302dbcc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988d997264968" /><Relationship Type="http://schemas.openxmlformats.org/officeDocument/2006/relationships/notesMaster" Target="/ppt/notesMasters/notesMaster1.xml" Id="R63809a668e6e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fe02347164cc2" /><Relationship Type="http://schemas.openxmlformats.org/officeDocument/2006/relationships/notesMaster" Target="/ppt/notesMasters/notesMaster1.xml" Id="R60b1986ab566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c55c794d2c46ac" /><Relationship Type="http://schemas.openxmlformats.org/officeDocument/2006/relationships/notesMaster" Target="/ppt/notesMasters/notesMaster1.xml" Id="Rf02ee92956dc4d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8504dc1e244420" /><Relationship Type="http://schemas.openxmlformats.org/officeDocument/2006/relationships/notesMaster" Target="/ppt/notesMasters/notesMaster1.xml" Id="Rd20d5400014e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724a2e2b034b73" /><Relationship Type="http://schemas.openxmlformats.org/officeDocument/2006/relationships/notesMaster" Target="/ppt/notesMasters/notesMaster1.xml" Id="R17355fb923fe48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a5a5bbc9d4960" /><Relationship Type="http://schemas.openxmlformats.org/officeDocument/2006/relationships/notesMaster" Target="/ppt/notesMasters/notesMaster1.xml" Id="R36ab58a7b53744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56bb788ef5487d" /><Relationship Type="http://schemas.openxmlformats.org/officeDocument/2006/relationships/notesMaster" Target="/ppt/notesMasters/notesMaster1.xml" Id="R27092be09d4446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243d28dc99416f" /><Relationship Type="http://schemas.openxmlformats.org/officeDocument/2006/relationships/notesMaster" Target="/ppt/notesMasters/notesMaster1.xml" Id="Rfdf1d48146b543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317cdfd278478d" /><Relationship Type="http://schemas.openxmlformats.org/officeDocument/2006/relationships/notesMaster" Target="/ppt/notesMasters/notesMaster1.xml" Id="Rd55282b47aa54f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6b647378de49f8" /><Relationship Type="http://schemas.openxmlformats.org/officeDocument/2006/relationships/notesMaster" Target="/ppt/notesMasters/notesMaster1.xml" Id="Rdcd7e86aa67745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774bb05fcb4e30" /><Relationship Type="http://schemas.openxmlformats.org/officeDocument/2006/relationships/notesMaster" Target="/ppt/notesMasters/notesMaster1.xml" Id="Re92edcc563d44b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8286e26588470f" /><Relationship Type="http://schemas.openxmlformats.org/officeDocument/2006/relationships/notesMaster" Target="/ppt/notesMasters/notesMaster1.xml" Id="Rb07a450d63734c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8717571562447b" /><Relationship Type="http://schemas.openxmlformats.org/officeDocument/2006/relationships/notesMaster" Target="/ppt/notesMasters/notesMaster1.xml" Id="R0638c5e568f547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e7d0dcd3854d60" /><Relationship Type="http://schemas.openxmlformats.org/officeDocument/2006/relationships/notesMaster" Target="/ppt/notesMasters/notesMaster1.xml" Id="R25b675f8a1df46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287b69b5814571" /><Relationship Type="http://schemas.openxmlformats.org/officeDocument/2006/relationships/notesMaster" Target="/ppt/notesMasters/notesMaster1.xml" Id="R7b212b2063b84d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92f39dc44948c7" /><Relationship Type="http://schemas.openxmlformats.org/officeDocument/2006/relationships/notesMaster" Target="/ppt/notesMasters/notesMaster1.xml" Id="R625a33e8b5dc45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fb113699e344bc" /><Relationship Type="http://schemas.openxmlformats.org/officeDocument/2006/relationships/notesMaster" Target="/ppt/notesMasters/notesMaster1.xml" Id="Rdd04c9d7e8fa44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e3bb75bdce4c28" /><Relationship Type="http://schemas.openxmlformats.org/officeDocument/2006/relationships/notesMaster" Target="/ppt/notesMasters/notesMaster1.xml" Id="R6c1156fb746c43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f2623738834c2e" /><Relationship Type="http://schemas.openxmlformats.org/officeDocument/2006/relationships/notesMaster" Target="/ppt/notesMasters/notesMaster1.xml" Id="Ra8d93a1425d340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ef7365db3c4c72" /><Relationship Type="http://schemas.openxmlformats.org/officeDocument/2006/relationships/notesMaster" Target="/ppt/notesMasters/notesMaster1.xml" Id="Rc6ac015e617f4c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081198aaf16433e" /><Relationship Type="http://schemas.openxmlformats.org/officeDocument/2006/relationships/notesMaster" Target="/ppt/notesMasters/notesMaster1.xml" Id="R30712497ddcb4f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6c219c89e0412b" /><Relationship Type="http://schemas.openxmlformats.org/officeDocument/2006/relationships/notesMaster" Target="/ppt/notesMasters/notesMaster1.xml" Id="R766e9cf16b024b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4cb226b20834b34" /><Relationship Type="http://schemas.openxmlformats.org/officeDocument/2006/relationships/notesMaster" Target="/ppt/notesMasters/notesMaster1.xml" Id="Rb11b8ff5cce546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39ec978541414c" /><Relationship Type="http://schemas.openxmlformats.org/officeDocument/2006/relationships/notesMaster" Target="/ppt/notesMasters/notesMaster1.xml" Id="R48ead0b2232646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3b62731a82455c" /><Relationship Type="http://schemas.openxmlformats.org/officeDocument/2006/relationships/notesMaster" Target="/ppt/notesMasters/notesMaster1.xml" Id="R56e082cf917145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b285794da31467a" /><Relationship Type="http://schemas.openxmlformats.org/officeDocument/2006/relationships/notesMaster" Target="/ppt/notesMasters/notesMaster1.xml" Id="R5aeedabfd51344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6b3de6f7564a67" /><Relationship Type="http://schemas.openxmlformats.org/officeDocument/2006/relationships/notesMaster" Target="/ppt/notesMasters/notesMaster1.xml" Id="R408939b4589041c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9358a0771d4b57" /><Relationship Type="http://schemas.openxmlformats.org/officeDocument/2006/relationships/notesMaster" Target="/ppt/notesMasters/notesMaster1.xml" Id="R73f46b76be384d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c9b87cf2c224196" /><Relationship Type="http://schemas.openxmlformats.org/officeDocument/2006/relationships/notesMaster" Target="/ppt/notesMasters/notesMaster1.xml" Id="R12763c4f57ab4d8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342c0078e9141eb" /><Relationship Type="http://schemas.openxmlformats.org/officeDocument/2006/relationships/notesMaster" Target="/ppt/notesMasters/notesMaster1.xml" Id="R730451f033f4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this is not a definition-first RAG class. It is a system-building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session as engineering discipline, not 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learners these questions are the spine of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smart-person hallucination analogy. Keep it beginner friendly.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RAG is the difference between asking a smart person to guess and asking them to answer with the textbook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RAG reduces hallucination but does not eliminate it completely.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LlamaIndex, LanceDB, BGE-small, OpenRouter, RAGAS, LangGraph.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to M0 notebook section and build the naive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embeddings as numerical representations of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chunk_size and chunk_overlap.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outputs aloud. Name the weakness behind each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engineering inversion in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goldset categories: exact-match, cross-section, multi-hop.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refund-policy example for the three failure 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this line. Ask learners to remember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module fixes Q1.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Dense is in the right neighborhood. BM25 is on the right doorstep.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 score = 1 / (k + rank), k = 60. Do not overdo the math.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module fixes Q2.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WhatsApp message analogy: one message without previous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sample contextualized chunk from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Google Drive sync analogy: if one file changes, you do not re-upload the whole laptop.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module fixes Q3.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a good question for a human is not always a good query for a retriever.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HyDE can hallucinate but is not shown to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research-team analogy: split work, combine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Agentic RAG is an escalation path, not the default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loop on screen or point to the notebook LangGraph state machine.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Routing is how you get better answers without making every answer expensive.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Langfuse, OpenTelemetry, Jaeger, CAG, Vault or secret managers.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learners not to start with agents. Start with measured naive RAG.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with: If you cannot show the graph, you do not have a RAG system. You have a vibe.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05a10caae43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1cce5046f2411a" /><Relationship Type="http://schemas.openxmlformats.org/officeDocument/2006/relationships/slideLayout" Target="/ppt/slideLayouts/slideLayout2.xml" Id="Rdb8602da654e4c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602da654e4c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7fb57b265543a7" /><Relationship Type="http://schemas.openxmlformats.org/officeDocument/2006/relationships/notesSlide" Target="/ppt/notesSlides/notesSlide1.xml" Id="R61e692007faa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a4afb3c5341f1" /><Relationship Type="http://schemas.openxmlformats.org/officeDocument/2006/relationships/notesSlide" Target="/ppt/notesSlides/notesSlide2.xml" Id="R5b699a1ce73644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d69aac11848fe" /><Relationship Type="http://schemas.openxmlformats.org/officeDocument/2006/relationships/notesSlide" Target="/ppt/notesSlides/notesSlide3.xml" Id="R849dd6f2409e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a4b4afb9b346e5" /><Relationship Type="http://schemas.openxmlformats.org/officeDocument/2006/relationships/notesSlide" Target="/ppt/notesSlides/notesSlide4.xml" Id="Ra4dab639262b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b2820218842a0" /><Relationship Type="http://schemas.openxmlformats.org/officeDocument/2006/relationships/notesSlide" Target="/ppt/notesSlides/notesSlide5.xml" Id="R652d1343718f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95830dce1499a" /><Relationship Type="http://schemas.openxmlformats.org/officeDocument/2006/relationships/notesSlide" Target="/ppt/notesSlides/notesSlide6.xml" Id="R965890dde85f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0e5a675731456e" /><Relationship Type="http://schemas.openxmlformats.org/officeDocument/2006/relationships/notesSlide" Target="/ppt/notesSlides/notesSlide7.xml" Id="Rdc7c59a6461842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9498dbe9a54d2c" /><Relationship Type="http://schemas.openxmlformats.org/officeDocument/2006/relationships/notesSlide" Target="/ppt/notesSlides/notesSlide8.xml" Id="Re149a3ad3fbe4b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c712c4874422f" /><Relationship Type="http://schemas.openxmlformats.org/officeDocument/2006/relationships/notesSlide" Target="/ppt/notesSlides/notesSlide9.xml" Id="Reaacd2920d6d46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29bfa608da48ed" /><Relationship Type="http://schemas.openxmlformats.org/officeDocument/2006/relationships/notesSlide" Target="/ppt/notesSlides/notesSlide10.xml" Id="R217e643683dd45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439de832f4e4d" /><Relationship Type="http://schemas.openxmlformats.org/officeDocument/2006/relationships/notesSlide" Target="/ppt/notesSlides/notesSlide11.xml" Id="Rcd100cafca6d45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7a194df01b4451" /><Relationship Type="http://schemas.openxmlformats.org/officeDocument/2006/relationships/notesSlide" Target="/ppt/notesSlides/notesSlide12.xml" Id="Re3200b8bc5ec42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c70b7eaf5d4218" /><Relationship Type="http://schemas.openxmlformats.org/officeDocument/2006/relationships/notesSlide" Target="/ppt/notesSlides/notesSlide13.xml" Id="Rcb83d624a74a4d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ed30bea9c4e1c" /><Relationship Type="http://schemas.openxmlformats.org/officeDocument/2006/relationships/notesSlide" Target="/ppt/notesSlides/notesSlide14.xml" Id="R81f9b25a0f8a41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b7fd83a384585" /><Relationship Type="http://schemas.openxmlformats.org/officeDocument/2006/relationships/notesSlide" Target="/ppt/notesSlides/notesSlide15.xml" Id="R17ea41cd27234b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47fdea4dc426b" /><Relationship Type="http://schemas.openxmlformats.org/officeDocument/2006/relationships/notesSlide" Target="/ppt/notesSlides/notesSlide16.xml" Id="Ra872cec3208d41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57fa13f22948eb" /><Relationship Type="http://schemas.openxmlformats.org/officeDocument/2006/relationships/notesSlide" Target="/ppt/notesSlides/notesSlide17.xml" Id="R5bc1434cfea54f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1a40b5c78b4f10" /><Relationship Type="http://schemas.openxmlformats.org/officeDocument/2006/relationships/notesSlide" Target="/ppt/notesSlides/notesSlide18.xml" Id="Rcab19aafdab742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96e53cfed4263" /><Relationship Type="http://schemas.openxmlformats.org/officeDocument/2006/relationships/notesSlide" Target="/ppt/notesSlides/notesSlide19.xml" Id="R677ae41324754c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fbae42541485f" /><Relationship Type="http://schemas.openxmlformats.org/officeDocument/2006/relationships/notesSlide" Target="/ppt/notesSlides/notesSlide20.xml" Id="R5f8a26428b3140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c04e8afccf4673" /><Relationship Type="http://schemas.openxmlformats.org/officeDocument/2006/relationships/notesSlide" Target="/ppt/notesSlides/notesSlide21.xml" Id="Rf34e5c33a0814d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4b3c62d311445f" /><Relationship Type="http://schemas.openxmlformats.org/officeDocument/2006/relationships/notesSlide" Target="/ppt/notesSlides/notesSlide22.xml" Id="Re3d53ba5b5c34e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cf492eb9d4315" /><Relationship Type="http://schemas.openxmlformats.org/officeDocument/2006/relationships/notesSlide" Target="/ppt/notesSlides/notesSlide23.xml" Id="R0ae3e17dd6104e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1cfead4d24d16" /><Relationship Type="http://schemas.openxmlformats.org/officeDocument/2006/relationships/notesSlide" Target="/ppt/notesSlides/notesSlide24.xml" Id="Rd3ae555a325b46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c7b30a8ee4c20" /><Relationship Type="http://schemas.openxmlformats.org/officeDocument/2006/relationships/notesSlide" Target="/ppt/notesSlides/notesSlide25.xml" Id="Rb705571dd29c4d5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3f54f3be554992" /><Relationship Type="http://schemas.openxmlformats.org/officeDocument/2006/relationships/notesSlide" Target="/ppt/notesSlides/notesSlide26.xml" Id="Rfd37aa467efc47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4a606d7f14f0f" /><Relationship Type="http://schemas.openxmlformats.org/officeDocument/2006/relationships/notesSlide" Target="/ppt/notesSlides/notesSlide27.xml" Id="R4674ed41b3b446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47ce534ac42bf" /><Relationship Type="http://schemas.openxmlformats.org/officeDocument/2006/relationships/notesSlide" Target="/ppt/notesSlides/notesSlide28.xml" Id="Rd66c13426b5b45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1c21e42964b95" /><Relationship Type="http://schemas.openxmlformats.org/officeDocument/2006/relationships/notesSlide" Target="/ppt/notesSlides/notesSlide29.xml" Id="R4ff3e08075d943e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16e98a45b4fec" /><Relationship Type="http://schemas.openxmlformats.org/officeDocument/2006/relationships/notesSlide" Target="/ppt/notesSlides/notesSlide30.xml" Id="Rdfd4ac553ec64b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58bb7627242b7" /><Relationship Type="http://schemas.openxmlformats.org/officeDocument/2006/relationships/notesSlide" Target="/ppt/notesSlides/notesSlide31.xml" Id="Rbf4a318a58f94c2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6f0aa85d64283" /><Relationship Type="http://schemas.openxmlformats.org/officeDocument/2006/relationships/notesSlide" Target="/ppt/notesSlides/notesSlide32.xml" Id="Rb4e839b86f4d44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9D380-2E2B-44EE-BE4F-99EEEF06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A7F9-909F-4156-8EB9-7FACD04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E8589-02D4-44EE-A042-7852A0C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9FD57-C456-4259-BBE2-E9EEE55E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01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EF03B-BD55-41B1-95F2-76F67675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258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4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OUTSKILL AI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5F202-6F4F-48F5-9B98-8B64FD2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2580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8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RAG for Engineers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27327-957E-4D11-9A03-B12FB53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72580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From naive demo to production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B29AE-4A67-466A-BA08-F97DC67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7258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 3-hour build-along: build, break, measure, improve.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01939-7F19-48B9-9043-292C9961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38200"/>
            <a:ext cx="3143250" cy="4686300"/>
          </a:xfrm>
          <a:prstGeom xmlns:a="http://schemas.openxmlformats.org/drawingml/2006/main" prst="roundRect">
            <a:avLst>
              <a:gd name="adj" fmla="val 606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A9049-7383-4E66-AAD4-E01F12F5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04900"/>
            <a:ext cx="2609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SESSION ARC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5A23A-1508-4B0F-979C-CD152133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60985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Build naive RAG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Break it visibly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Measure the baseline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Fix one failure at a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CAB41-A311-4917-9317-7CC1BD3E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24400"/>
            <a:ext cx="2609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4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Build. Break. Measure. Improve.</a:t>
            </a:r>
          </a:p>
        </p:txBody>
      </p:sp>
    </p:spTree>
    <p:extLst>
      <p:ext uri="{BB962C8B-B14F-4D97-AF65-F5344CB8AC3E}">
        <p14:creationId xmlns:p14="http://schemas.microsoft.com/office/powerpoint/2010/main" val="836428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8E28A-D9EA-4A05-81DD-0748AAA8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515D3-2A88-4B4D-B382-F8B7F0B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5235A-A8F2-43A6-9D00-5BE82D5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5727E-7BB2-49AA-BA81-F048A23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02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B0887-6652-47BF-A192-6B7C97C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8307B-96E4-49E2-8BF5-56408C42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Most tutorials stop at the happy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EC196-9E95-4DDD-9C75-055DE42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16214-BB64-4AC7-AE03-AB0530A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Happy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0940D-3860-4A91-BAEA-6C9F5E2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docs -&gt; chunks -&gt; embeddings -&gt; vector DB -&gt; top-k -&gt; 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39586-2C94-4A4F-B096-450F3B0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AFFDE-6BA3-4C90-9E82-96D3AC89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AB4BA-EA2F-47B6-A112-208BFF8F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show where it breaks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name the failure mode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measure the baseline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fix one failure at a time</a:t>
            </a:r>
          </a:p>
        </p:txBody>
      </p:sp>
    </p:spTree>
    <p:extLst>
      <p:ext uri="{BB962C8B-B14F-4D97-AF65-F5344CB8AC3E}">
        <p14:creationId xmlns:p14="http://schemas.microsoft.com/office/powerpoint/2010/main" val="626461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85E9A-06E1-48DB-BCC8-B4E6E21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87B36-E9D3-4289-81A0-DDDC313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6C1AD-9332-4E9F-927A-B8475EB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2F41-9FB2-4B9B-85FD-CAC0678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03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9A0E3-2A9C-41B5-850E-83488A00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08083-5BA0-415A-B596-5E19691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Three questions carry the whole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ECD14-5274-4C6C-A48B-C836046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E97DA-01F4-455D-B036-998C8D86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D1073-9454-4515-8994-367762C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What 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9B806-B8D7-411E-8A3C-989A869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 later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4A8F-905B-48DD-845E-3B584620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2263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Q1: --max-pods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DC7A0-D80E-4EB6-B1E6-EB853A3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2263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Exact flag and default value lookup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AF89F-C9F7-4EF2-A6E2-49B80ACD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2263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Hybrid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B507B-C5A2-4153-BD69-50729EF5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Q2: Ingress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AF171-034C-45DE-84C7-14EFF10A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81425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Chunk context and cross-section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FD30-8B58-4D67-A5AA-F00FD29A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81425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Contextual ingest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F1655-FBEB-4DD4-8929-360307BB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0588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Q3: StatefulSet rollout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83898-450F-4079-8840-85326C25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0588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Multi-hop answer across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15C13-399F-4947-AED8-712D6DD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0588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Decomposition</a:t>
            </a:r>
          </a:p>
        </p:txBody>
      </p:sp>
    </p:spTree>
    <p:extLst>
      <p:ext uri="{BB962C8B-B14F-4D97-AF65-F5344CB8AC3E}">
        <p14:creationId xmlns:p14="http://schemas.microsoft.com/office/powerpoint/2010/main" val="17004730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FC6E3-E1C8-43DA-917D-906D473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8E9C-103D-43F5-90E8-BF673866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A4D5C-85D6-467C-9A44-B548EDC0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RAG basics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43F98-E480-444F-A6F9-3245AE40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04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8AAA7-9B20-49BD-9276-3EB828D9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E2A2D-63EB-4149-AFBC-E250F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Think of the LLM as a brilliant but risky expert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F2DE7-C078-42FE-A26F-851E5ED6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3B7E6-1827-4261-B1DC-017DE3D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has read a lot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explains beautifully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connects ideas fast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sounds confident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may still make things up when it does not know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5A0A6-BEB9-4CEF-984E-8933BDBC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Fluency is not the same as truth.</a:t>
            </a:r>
          </a:p>
        </p:txBody>
      </p:sp>
    </p:spTree>
    <p:extLst>
      <p:ext uri="{BB962C8B-B14F-4D97-AF65-F5344CB8AC3E}">
        <p14:creationId xmlns:p14="http://schemas.microsoft.com/office/powerpoint/2010/main" val="3423732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1BA15-CB51-4F31-AA7D-2A7246DC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96C4D-2C7F-47BB-9FDE-E0DE99E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7F2B7-3C9A-45F5-8552-3DBFB8C1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RAG basics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F5649-21E2-4202-B3DC-01A74CE4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05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582DE-276C-4163-9EEC-F123F33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C5624-2963-46BA-BD5A-F34C05B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RAG gives the expert the right pages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86B47-C53B-4BA6-B6B9-641D2566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2879B-9896-4CE7-AD03-91FEBB5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Without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3891C-5A3C-4880-95FB-2887B71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Ask the smart person to answer from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Risk: confident guesses.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4078E-3421-475D-81FE-077E4086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76B88-6F6B-419B-A2B8-55EA8ACC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With 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90122-758B-4EAB-A521-6A30DB1E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Retrieve relevant source material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Then ask the smart person to answer from it.</a:t>
            </a:r>
          </a:p>
        </p:txBody>
      </p:sp>
    </p:spTree>
    <p:extLst>
      <p:ext uri="{BB962C8B-B14F-4D97-AF65-F5344CB8AC3E}">
        <p14:creationId xmlns:p14="http://schemas.microsoft.com/office/powerpoint/2010/main" val="14119345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657C2-8C17-40CE-A10E-679CEC5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6C742-3FD5-42F1-99BD-08CCA12B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72D6A-DA32-4515-84FD-780F6E5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RAG basics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F1419-B404-4A58-B435-9D79581D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06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FE05A-A49C-4EED-9D9C-C7FFCD34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B9141-AEFA-4E68-BBDB-EC455B53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RAG in one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8279E-649D-4EB2-A4AD-9F0ACF0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9D263-1A14-40D7-8AF1-557238D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0001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Retrieve the right evidence, then generate the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AD026-4A9E-4B12-A888-A1F76AE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1000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reduces hallucination by grounding the model in source material.</a:t>
            </a:r>
          </a:p>
        </p:txBody>
      </p:sp>
    </p:spTree>
    <p:extLst>
      <p:ext uri="{BB962C8B-B14F-4D97-AF65-F5344CB8AC3E}">
        <p14:creationId xmlns:p14="http://schemas.microsoft.com/office/powerpoint/2010/main" val="3806071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4AF75-B3EF-409D-BC4F-7ED38335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F5F77-FDD0-4AE9-8875-3888818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CC78-AFBF-4BCA-8948-1C625FD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1A21-D52F-498D-9640-4B0A968E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07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E5192-CAAE-4563-AC63-2946337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11CA2-F175-4163-9AA7-85761942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Tools can change. The shape stays.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C75F0-E4FD-4F46-BDC1-B8227E0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47489-E807-4984-9E36-49E6F70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43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27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ingest -&gt; retrieve -&gt; rerank -&gt; generate -&gt; evaluate -&gt; 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29C55-72CD-4C83-AA7C-C8DA6A2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10153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This is the production RAG mental model.</a:t>
            </a:r>
          </a:p>
        </p:txBody>
      </p:sp>
    </p:spTree>
    <p:extLst>
      <p:ext uri="{BB962C8B-B14F-4D97-AF65-F5344CB8AC3E}">
        <p14:creationId xmlns:p14="http://schemas.microsoft.com/office/powerpoint/2010/main" val="21152899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AE770-E6E9-4BA7-90C6-EB9F79E8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0C501-8250-4412-B3C0-28E99F31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893B3-A2C7-4447-B4B6-A01F9364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833F6-E787-4DAF-A447-2A523852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08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EE4EA-62DF-4560-BA91-97EDE25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M0 /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79E87-B6C6-4E90-8B1A-D069D555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Naive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95D9D-03A7-40D4-B249-7469B694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Build the simplest version first. It should work just enough to be impressive and fail just enough to teach us something.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E6989-D398-4471-9324-F35A9A6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DED5-598A-420E-85B3-0FDAB94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271FF-3292-4897-A7F6-407CF07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documents -&gt; chunks -&gt; embeddings -&gt; vector DB -&gt; top-k -&gt;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BA47D-2128-47F7-ACDA-DD35C53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Baseline first. Optimization later.</a:t>
            </a:r>
          </a:p>
        </p:txBody>
      </p:sp>
    </p:spTree>
    <p:extLst>
      <p:ext uri="{BB962C8B-B14F-4D97-AF65-F5344CB8AC3E}">
        <p14:creationId xmlns:p14="http://schemas.microsoft.com/office/powerpoint/2010/main" val="474137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FC205-FD87-4524-AEAE-93A3AB45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52694-DD23-4245-B4D1-F0CA29FB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57B7-23BF-4064-A0CF-A3F047F3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218E-1AFC-48F5-93C1-4A7A0A3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09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4348F-C7CF-4D31-9D79-02EBEBB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CFCFE-B577-4D39-BF0D-FCBA4F9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Naive RAG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D718F-8847-4D65-A500-55ECAF69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00D1C-80F4-4FFF-BBBC-EB4A00E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load documents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split into chunks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convert chunks to embeddings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store in vector DB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embed user query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retrieve closest chunks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send chunks to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9AC96-E7E8-4BA3-B180-0FF1E0A6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This is the version most tutorials stop at.</a:t>
            </a:r>
          </a:p>
        </p:txBody>
      </p:sp>
    </p:spTree>
    <p:extLst>
      <p:ext uri="{BB962C8B-B14F-4D97-AF65-F5344CB8AC3E}">
        <p14:creationId xmlns:p14="http://schemas.microsoft.com/office/powerpoint/2010/main" val="17951603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2DBB2-6210-4EEC-A352-970BD2AC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0CC2D-7A70-43BF-818C-9A636279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26A31-001C-4BF8-B278-1B7B195B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BC3F6-11CA-41A6-93A1-F51512A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10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706EF-AEE6-42CC-843E-92F84EFA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C5838-483D-4948-83A5-C51A2CA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Chunking: the open-book exam analogy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79CEC-B683-4C7C-8B8C-97E78919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4D23D-E4D8-4429-8300-19037F4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One giant 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A350D-2595-4522-B875-6C88C6D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One person searches page by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Slow and expensive.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9A7E6-6E10-4615-8C8B-7DF174B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D8150-5B5C-43AA-AFAD-F5EFD98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Chunked 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441AC-6563-4551-8D3E-CC36B9D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Five people search chapters in parallel.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Overlap prevents meaning from breaking at boundaries.</a:t>
            </a:r>
          </a:p>
        </p:txBody>
      </p:sp>
    </p:spTree>
    <p:extLst>
      <p:ext uri="{BB962C8B-B14F-4D97-AF65-F5344CB8AC3E}">
        <p14:creationId xmlns:p14="http://schemas.microsoft.com/office/powerpoint/2010/main" val="11304687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081072-1570-4A0B-992C-DDC7700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0FDE6-C245-4603-AFA9-A3054ACA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E2CFF-7000-4AA6-BA25-48E317F3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31DC1-5EFA-4864-BD00-F4033125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11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DF72A-6DBC-4804-BF37-6B5F751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84EBD-B892-4C08-9230-9A98D1D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Run Q1, Q2, Q3 on naive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A0DF7-0E50-4451-826B-67290CF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00427-3914-4D7B-8208-D7C7ECED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Q1 may return pod-limit language but miss the exact default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Q2 may say 'Ingress uses rules' without the actual routing mechanism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Q3 may mention rolling updates but miss storage or PDBs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BFAC4-9D21-422C-81F0-93ECF739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The answers may sound fluent. We care about evidence.</a:t>
            </a:r>
          </a:p>
        </p:txBody>
      </p:sp>
    </p:spTree>
    <p:extLst>
      <p:ext uri="{BB962C8B-B14F-4D97-AF65-F5344CB8AC3E}">
        <p14:creationId xmlns:p14="http://schemas.microsoft.com/office/powerpoint/2010/main" val="8246720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814F9-1944-4749-84E0-78A8C42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AF971-D6CF-4EEB-84C3-19BEFDF5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0FB76-D63C-4A9A-B374-03A11D3F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952CD-5411-4B7C-868E-ADE0EBB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12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3F049-810F-474C-8813-8FD5A32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M1 / SCOREBOARD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20C3F-566E-426E-8584-0F35D030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Evaluation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4363E-1857-4BA0-8503-93F33D1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Manual inspection does not scale. Before improving retrieval, create a scoreboard.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9661B-DF85-4CD6-9B12-9056CAAA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296B-55D9-4248-9BB8-A41EE6E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DDFF9-707E-4AB1-A1CF-02891758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Goldset + RAGAS metrics + baseline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4C00C-EDEE-4D80-B62A-F1B0C6FD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No graph, no system.</a:t>
            </a:r>
          </a:p>
        </p:txBody>
      </p:sp>
    </p:spTree>
    <p:extLst>
      <p:ext uri="{BB962C8B-B14F-4D97-AF65-F5344CB8AC3E}">
        <p14:creationId xmlns:p14="http://schemas.microsoft.com/office/powerpoint/2010/main" val="6606726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28F929-8C48-488D-B85D-CBEBE02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DB2AD-6D44-4889-9A7C-AF47AD6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D549-C01D-448C-9EBD-1D7EF4D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6C887-FBD0-493F-B51E-1EA55E8D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13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E79A8-265A-4E73-AFF5-88380AD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ACE78-B643-4305-860A-3619A3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RAG evals are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C93D0-A267-43BE-940D-77ED661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C0B00-61C2-4E00-90EA-6938DE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Normal software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1A819-3C50-4A37-810C-1B9C338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code change -&gt;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15D06-F0FD-4C15-9E0A-2C23F5A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65E1D-B4A6-4FCC-969A-28F9AD8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F533F-1D70-4659-8726-E405D393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pipeline change -&gt; eval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30 representative questions to start.</a:t>
            </a:r>
          </a:p>
        </p:txBody>
      </p:sp>
    </p:spTree>
    <p:extLst>
      <p:ext uri="{BB962C8B-B14F-4D97-AF65-F5344CB8AC3E}">
        <p14:creationId xmlns:p14="http://schemas.microsoft.com/office/powerpoint/2010/main" val="15282950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B4FFB-04DC-4600-A90B-70EAA7F7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C896-FD99-4979-8332-238AFDBA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DB1C1-0E8E-4080-8480-A5383457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59E1-197C-4667-A243-22E370AA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14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B114B-0A41-4568-9605-A8EF74AE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D616-09F5-4E96-8574-BEB0182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The RAGAS triad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31F72-2F04-4F45-8B2D-6DFF3FE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2583A-E04B-4CC2-9367-950415F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C769D-AA70-434D-8494-48E04436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Question it 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6D42B-06C8-446E-A7FC-F46C1BC5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Failure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752C6-5013-4EA2-9F2E-F73E6B6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2263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Context relevance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8001B-DBAA-40C9-951D-D64F410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2263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Did we retrieve useful chunks?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3FD1A-DA43-4E93-AC8D-DD1BCA79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2263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Retriever 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8D07C-7883-4A85-93E7-B97A59E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Faithfulness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E7EF6-0192-4DD0-B89C-CA46994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81425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Is the answer supported by chunks?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7C6A5-4B7E-42B1-A439-6DD12B33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81425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Generation problem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820DF-F5B4-41B4-BAD7-7D352177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0588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Answer relevance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CC9FD-3962-4908-AF33-0B1BCE01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0588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Did it answer the user?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8AC9C-EB34-4BD8-AF41-525EFAC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0588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Intent problem</a:t>
            </a:r>
          </a:p>
        </p:txBody>
      </p:sp>
    </p:spTree>
    <p:extLst>
      <p:ext uri="{BB962C8B-B14F-4D97-AF65-F5344CB8AC3E}">
        <p14:creationId xmlns:p14="http://schemas.microsoft.com/office/powerpoint/2010/main" val="12119376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5ACAD-1ADB-42C6-B01E-18F4894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DF971-3FD6-42F7-93F0-04A63B1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F7E09-70B1-482A-9E3A-C38EE33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D86BD-82F0-4517-BE6D-19DDF1C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15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47F8B-A166-4279-A6CB-E83970DB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269A4-C209-41FE-9691-4055D454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The line to land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C1A5E-BFEC-427D-B058-7BF8DA61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9B017-1C95-4075-8950-6A647876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0001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If you cannot draw the graph, you do not have a RAG system. You have a vibe.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26C49-987B-46EE-A842-5D591BA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1000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Every later module must move a number or fix a visible failure.</a:t>
            </a:r>
          </a:p>
        </p:txBody>
      </p:sp>
    </p:spTree>
    <p:extLst>
      <p:ext uri="{BB962C8B-B14F-4D97-AF65-F5344CB8AC3E}">
        <p14:creationId xmlns:p14="http://schemas.microsoft.com/office/powerpoint/2010/main" val="400686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BBA170-3EDC-40E5-A748-561910E7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0B2A0-00E5-4B20-BF32-946B17F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EB225-47A6-4CD2-B434-7EDFF29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830E-4E87-4394-9067-E607DBF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16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6DAA7-D8B2-4A59-B169-5C5916CB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M2 /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4CD6-D0DB-483B-9A28-B6E61E89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Hybrid + rerank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78FDB-C344-4613-A784-83BAAD72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Dense-only retrieval struggles with identifiers: flags, IDs, SKUs, error codes, function names.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4669-A80C-4BE8-9D30-129FB8BE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D6884-2C06-4E55-BCB2-44820D0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0F3D0-AB7B-4AC3-9127-B0DECC4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Dense search + BM25 + RRF + cross-encoder reranker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2641A-E416-4BD9-958E-31B4945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Meaning plus exact strings.</a:t>
            </a:r>
          </a:p>
        </p:txBody>
      </p:sp>
    </p:spTree>
    <p:extLst>
      <p:ext uri="{BB962C8B-B14F-4D97-AF65-F5344CB8AC3E}">
        <p14:creationId xmlns:p14="http://schemas.microsoft.com/office/powerpoint/2010/main" val="67251139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2547F-5865-4F1D-80D7-750A738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E79E-5C1B-4471-97DB-6971C8E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2B53-0263-4013-9B04-71395BE6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5F762-1F8D-47A0-991E-871BE020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17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77D49-26E0-412C-84E6-2E413C6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06C8E-E8DD-485E-BEAC-C976E1C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Dense finds meaning. BM25 finds strings.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83F28-5765-4147-BB87-4ADF97A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852C3-F395-46A5-A7CC-105B227B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Dense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D522F-A22E-4884-85DD-B9F1C94D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Good for concepts: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'pod capacity'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'node limits'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'workload scheduling'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F8C76-5F9F-4370-BD6C-6545D52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591A-64D0-46B9-B8AE-09E0F54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BM25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20D88-06E0-453D-88BA-1E7B0653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Good for exact terms: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`--max-pods`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`404`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`SKU-912`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`pod.spec.selector`</a:t>
            </a:r>
          </a:p>
        </p:txBody>
      </p:sp>
    </p:spTree>
    <p:extLst>
      <p:ext uri="{BB962C8B-B14F-4D97-AF65-F5344CB8AC3E}">
        <p14:creationId xmlns:p14="http://schemas.microsoft.com/office/powerpoint/2010/main" val="6153025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F5DFA6-D044-4CF9-A166-DEEE551C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1B3BA-01D5-4E35-9358-5D77E89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1453A-6527-4BD0-9FBD-CE51E12D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84401-FFF4-4422-AE58-50029FC0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18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BE69C-7A1C-484D-BE95-18AD8A15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C1FC-1DB7-4434-B9A9-98D05B3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RRF combines rank, not raw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D8CC5-5C4F-46E7-AFD0-76A01A0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9010-2189-4207-BD96-82DCD2B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dense similarity and BM25 scores are not comparable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RRF uses rank position instead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a document high in both lists gets more credit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then reranker chooses the best final chunks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BE789-9A1C-48AD-B70A-BAB916E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Retrieve wide and fast. Rerank narrow and accurate.</a:t>
            </a:r>
          </a:p>
        </p:txBody>
      </p:sp>
    </p:spTree>
    <p:extLst>
      <p:ext uri="{BB962C8B-B14F-4D97-AF65-F5344CB8AC3E}">
        <p14:creationId xmlns:p14="http://schemas.microsoft.com/office/powerpoint/2010/main" val="149251703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5029D-FBD8-49F6-BB5B-C06A68B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FF8DE-31AA-4F40-BBA0-C1F7D73B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9F230-CA44-47C0-BF0E-1C9A1E8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9D856-535F-4AEC-9934-845B580C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19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FBF66-4E5A-45A8-A619-7F63CDDB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M3 / 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9D52D-D163-40D3-93F2-3A0A31E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Contextual chunks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2C54C-2F81-4122-8E45-0827FF0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Sometimes search is fine, but the chunk is not understandable on its 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F5026-F3C7-4FF8-B262-0C40602B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40E8B-BFF3-4EFB-B1DD-3623A70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F07C3-8B05-4A38-B1A0-C7AA45B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Add a short context line before embedding each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1E1B7-B186-4D4B-A72B-1952AE3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Good RAG starts before the query arrives.</a:t>
            </a:r>
          </a:p>
        </p:txBody>
      </p:sp>
    </p:spTree>
    <p:extLst>
      <p:ext uri="{BB962C8B-B14F-4D97-AF65-F5344CB8AC3E}">
        <p14:creationId xmlns:p14="http://schemas.microsoft.com/office/powerpoint/2010/main" val="111527999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7477C-52BF-4CBA-B8F4-15D6FC8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14C7B-6704-4082-90C2-5C994C4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CDB68-D1C7-46A3-BD2A-3E59595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664FA-CE15-49B7-B875-F0A82E7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20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9C908-A234-48A7-8483-59A9961A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DE3FE-F08B-4579-8191-1FEA042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Chunks can lose their parent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E2A3F-9EB6-4B81-B18F-EBA55AC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7F27-2BED-430D-A9CF-3200E208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Original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65DBD-5263-42A4-A6C9-ACC47A90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Heading: Ingress routing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Paragraph: It checks the host and path in the incoming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D284B-7F0B-45D3-A72A-5538093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3249F-4BEA-463C-A454-F0EAFB9B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Isolated chunk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626AA-F599-4B77-AE1E-E25C9FC1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`It checks the host and path...`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What is 'it'? Which system is this about?</a:t>
            </a:r>
          </a:p>
        </p:txBody>
      </p:sp>
    </p:spTree>
    <p:extLst>
      <p:ext uri="{BB962C8B-B14F-4D97-AF65-F5344CB8AC3E}">
        <p14:creationId xmlns:p14="http://schemas.microsoft.com/office/powerpoint/2010/main" val="13613697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65A9F-E808-4280-8B33-8F8BFC38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947A-CF6C-428A-BFC7-B4C9D07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8FB9A-5612-45DE-B403-2C4A4235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30B79-6E5E-4C7C-B797-9D08F6A3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21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21C9-F6F6-4FEF-B842-9AE14134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663EF-3B6A-41B5-9E0E-67BAF53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Contextual retrieval adds meaning 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F6FED-F315-44BE-BC64-0954B79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F3938-37E9-4771-B8A6-E935A7D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ask an LLM: where does this chunk sit in the document?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prepend a 1-2 sentence context blurb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embed and store the contextualized chunk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retrieval now has better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74233-9B12-4018-BE69-75D73C2E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This is ingest-time improvement, not generation-time prompting.</a:t>
            </a:r>
          </a:p>
        </p:txBody>
      </p:sp>
    </p:spTree>
    <p:extLst>
      <p:ext uri="{BB962C8B-B14F-4D97-AF65-F5344CB8AC3E}">
        <p14:creationId xmlns:p14="http://schemas.microsoft.com/office/powerpoint/2010/main" val="257561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19D055-3A28-46BC-98E5-A7632F8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9989A-CFEB-42F9-91F8-6FA906A4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51845-7A82-4012-A75A-46399F9E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5D59E-D074-4464-B371-B200691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22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0EAB8-1597-468E-9A33-82CAC97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6330-CF47-48EC-AE82-5D90B8D7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Record manager keeps the knowledge base clean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3DE99-92D6-49DD-B2CF-A1E99EB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D1128-175B-4F5B-A9B1-557BBA4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Doc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5B729-3CC9-4DB5-ABDD-99598F3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9D77C-4C87-4F04-B55E-0944080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886D5-02EA-4644-A6D7-215F463A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2263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Unchanged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85625-9A17-4EB1-850F-DFDE823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2263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skip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7D409-5A16-46EE-8B16-C40255C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2263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avoid wasted embeddings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DA598-0C32-4691-A09A-FF94E8BF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FCAD4-3284-47A7-8BB3-A075919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81425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delete old chunks + re-embed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C48BE-BCFF-4A78-BAB5-AFDA406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81425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avoid stale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9DD83-7311-4657-933B-02D4FD89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0588"/>
            <a:ext cx="295275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22279-117C-4404-9975-A096A5BD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0588"/>
            <a:ext cx="44196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cascade-delete chunks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620F5-52DB-4577-8A47-5511465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0588"/>
            <a:ext cx="2667000" cy="82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avoid ghost knowledge</a:t>
            </a:r>
          </a:p>
        </p:txBody>
      </p:sp>
    </p:spTree>
    <p:extLst>
      <p:ext uri="{BB962C8B-B14F-4D97-AF65-F5344CB8AC3E}">
        <p14:creationId xmlns:p14="http://schemas.microsoft.com/office/powerpoint/2010/main" val="10070138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68178-902C-48FC-838E-20C56CC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B6832-E63F-4FBF-9137-4BD4011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7977F-B251-45D3-8458-472EABC2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0BC4E-0A0A-496D-9154-DDE12019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23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AAD40-6AFF-4DEE-AF88-383513C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M4 / QUERY 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F3318-7F54-4411-A89D-D6599CA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Query rewriting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BF09E-147D-444C-AEDF-7C38275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The user's question is not always the best search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ED428-10D2-45AF-97B9-292026CB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BAC33-6EC2-40A0-AA64-40EAA67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A4CEC-677F-42BF-872D-952BC0E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HyDE + decomposition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49163-7CA2-42E1-9649-AFB8DF46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Transform intent into something retrievable.</a:t>
            </a:r>
          </a:p>
        </p:txBody>
      </p:sp>
    </p:spTree>
    <p:extLst>
      <p:ext uri="{BB962C8B-B14F-4D97-AF65-F5344CB8AC3E}">
        <p14:creationId xmlns:p14="http://schemas.microsoft.com/office/powerpoint/2010/main" val="128145712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3E22F-47BB-40DE-887D-44F52E91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C284F-46B7-445B-892F-BC43806C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D6507-CD60-4005-8151-70CE919D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EFDD6-C767-4388-B161-FD2D316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24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37442-36D4-4390-BD55-F3F1BEAE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A5099-14F8-4C7C-970D-7034EF7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Human language vs documentation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AF68C-E687-4FFA-93F3-A642E1B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A5245-1ADD-450C-8F70-6C0BFECF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User 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D70C8-E907-47FC-80FC-55389A0A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"How do I make sure my app does not go down during an update?"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6AB6C-C5F8-4CBC-871F-26F771FA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4866-12E1-43A5-A43E-EB50035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Docs say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8E393-3D98-4A8A-8D2E-0D562350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"Configure rolling updates, readiness probes, maxUnavailable, and PodDisruptionBudgets."</a:t>
            </a:r>
          </a:p>
        </p:txBody>
      </p:sp>
    </p:spTree>
    <p:extLst>
      <p:ext uri="{BB962C8B-B14F-4D97-AF65-F5344CB8AC3E}">
        <p14:creationId xmlns:p14="http://schemas.microsoft.com/office/powerpoint/2010/main" val="128580466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B75A8-477D-492C-AC96-9ABFCB0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428B1-632A-4E69-B4F7-282ABA2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5EA73-6B83-43BC-8214-64A4AEE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8B025-96FD-4513-8990-D7F52D9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25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839C5-63B1-4FC4-A9E5-2D1D21B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36B5E-C166-4BAF-B645-983D5910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HyDE uses a fake answer as a search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6FE0-2C74-4A52-96D5-E1A1C8C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05557-D4D5-4C83-B096-7AC0995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LLM writes a hypothetical answer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embed the hypothetical answer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retrieve using that embedding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final answer still comes from retrieved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B0DFE-BB56-405A-BBBA-F10C972E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The fake answer is a probe, not the truth.</a:t>
            </a:r>
          </a:p>
        </p:txBody>
      </p:sp>
    </p:spTree>
    <p:extLst>
      <p:ext uri="{BB962C8B-B14F-4D97-AF65-F5344CB8AC3E}">
        <p14:creationId xmlns:p14="http://schemas.microsoft.com/office/powerpoint/2010/main" val="20939548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9C2E9-D7DA-4D25-97FB-3D60443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BD1FD-82CE-4D14-B3F9-7CBDB9AD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15D8B-61AC-4878-BA44-697D305F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5B50D-36EC-45DA-801D-55EA5E0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26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1ECA7-B05A-40D5-AFE0-B97C5DBD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F1F0-4D39-4AA1-9C4A-32C5656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Decomposition splits the hard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EBB5B-C795-4CF3-9BF2-09CD9C9D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316F1-3A84-40D4-ACC6-964AE3B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How do StatefulSet rolling updates work?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How does persistent storage attach to replicas?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How do PDBs preserve availability?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Retrieve each, union, dedupe, rerank against original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FE2C-8952-4246-9255-2CD32E39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The sub-questions are scaffolding. The original question is the target.</a:t>
            </a:r>
          </a:p>
        </p:txBody>
      </p:sp>
    </p:spTree>
    <p:extLst>
      <p:ext uri="{BB962C8B-B14F-4D97-AF65-F5344CB8AC3E}">
        <p14:creationId xmlns:p14="http://schemas.microsoft.com/office/powerpoint/2010/main" val="23013109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DF739-BEB9-4698-B1CF-E5CF0F4A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ED5EC-8473-48BC-AA45-7BF197A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60CA3-AF32-4FD3-922A-E6FC4A16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C9EB7-FE0B-4864-8764-F8B272BC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27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4FF68-2662-43AC-B9B2-A484014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686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M5 / HARD QUERIES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E1567-9D81-4AEE-828C-E752E2D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865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3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Agentic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79E03-D1CB-45E9-9D42-53BC84D7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6865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2100" b="0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Classic RAG retrieves once. Agentic RAG can retrieve, judge, reformulate, and retrieve again.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5721D-8FAB-4C4B-A6F6-CF1D4D9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714750" cy="49339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FF36F-454C-47FA-B083-7AD3DE5F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FIXES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B876D-9DD6-42C7-B3D7-A81BB43E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2914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retrieve -&gt; judge -&gt; reformulate -&gt; retrieve -&gt;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3D61-F0D4-472D-A6A1-558F529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RAG with a feedback loop.</a:t>
            </a:r>
          </a:p>
        </p:txBody>
      </p:sp>
    </p:spTree>
    <p:extLst>
      <p:ext uri="{BB962C8B-B14F-4D97-AF65-F5344CB8AC3E}">
        <p14:creationId xmlns:p14="http://schemas.microsoft.com/office/powerpoint/2010/main" val="14279809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86F49-FBF8-433B-AC07-EA085D7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38868-3A46-4849-A3B3-73C89A9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52434-2712-42F6-BA7F-24BC6D70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9DDE8-9AD3-4B6E-9D38-1D755E2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28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2A774-0A26-463A-9FA4-1004F7E0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61FF1-AECA-4692-AFAC-A912B2F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Every agent loop needs a seatbelt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DB92F-1AFA-402A-8837-933E2ED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665F9-50D0-49DE-BAD1-E2B1DCB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retrieve evidence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judge whether evidence is enough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if not, reformulate the query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retrieve again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875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stop after max 3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EADAB-05CF-4FDC-862F-5083A9B9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Without a cap, an agent loop becomes a billing incident.</a:t>
            </a:r>
          </a:p>
        </p:txBody>
      </p:sp>
    </p:spTree>
    <p:extLst>
      <p:ext uri="{BB962C8B-B14F-4D97-AF65-F5344CB8AC3E}">
        <p14:creationId xmlns:p14="http://schemas.microsoft.com/office/powerpoint/2010/main" val="90882365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D7322-9D3E-4A43-B6B8-1BAF30C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0ECEB-2640-4A63-88C7-4B3D4D2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DB1C4-FCBB-4B45-9C93-80A5691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M5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02911-3475-4242-AB71-A77C580C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29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32453-5B3C-4801-B224-FCF3395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M5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E1C7B-F396-445C-A266-F84A4BA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Routing controls cost and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2A3EB-C96C-4621-A7B9-ACEEBF3A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FFC5F-6436-450E-BA14-6C715D0B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Query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DF2B1-C6AE-449A-8AD4-343EE732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5F19D-1342-4343-B4A4-AF6379E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AC31A-829B-4AC5-95E8-1BD0521D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5875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Simple factual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B742E-1D4E-47FD-848E-95957E5B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5875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hybrid + 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7AF11-CD36-41A2-9C4C-E9ABDFCC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5875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cheap and fast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6F8CE-4DBA-4BEA-9BB5-812163BA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8650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Exact flag /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F0729-2830-49A3-874F-395CBBF3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68650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BM25 + dense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99257-BED8-4D61-9CE8-DB40BB5E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8650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literal match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8FA04-9997-4F06-9529-242E3FB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Multi-hop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E5FCC-EC3C-4B70-BFB4-C059D9E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81425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decomposition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47340-B8B0-47D1-B353-BE2D8E23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81425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needs multiple evidence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2B104-FB1B-485F-9810-93592029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4200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Ambiguous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729C0-5E60-4039-AEFD-CA2050E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94200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agentic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2CF4A-3012-4198-89E6-CF9D6E10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94200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needs iteration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D4D04-08F6-4CAD-819B-4CC3F15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6975"/>
            <a:ext cx="295275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Whole corpus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30589-7CC9-470B-83C0-22626E0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06975"/>
            <a:ext cx="44196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50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GraphRAG / long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46FC8-E8F9-4801-B13E-DB45B7E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06975"/>
            <a:ext cx="2667000" cy="51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500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special case</a:t>
            </a:r>
          </a:p>
        </p:txBody>
      </p:sp>
    </p:spTree>
    <p:extLst>
      <p:ext uri="{BB962C8B-B14F-4D97-AF65-F5344CB8AC3E}">
        <p14:creationId xmlns:p14="http://schemas.microsoft.com/office/powerpoint/2010/main" val="157547462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EE6BC1-CEE6-40F5-AFC6-412948B8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95645-A967-4F71-8858-1A7D921C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A1451-2B63-41C3-8906-FCF20450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Wrap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1BEC5-FDAF-4D5A-9E4F-8028073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30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FAFDA-DCC9-4594-AE19-9997C991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B781F-2541-4868-96F0-70C0889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Production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F176B-F040-4C45-B887-720870C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B259D-E183-444D-97FF-80B008A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0153650" cy="25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evaluation goldset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tracing and observability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query / embedding / vector / response cache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cost math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re-ingestion discipline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secrets and permissions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7877-BA1F-4727-A785-CDA2DBB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153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A demo can skip these. A production system cannot.</a:t>
            </a:r>
          </a:p>
        </p:txBody>
      </p:sp>
    </p:spTree>
    <p:extLst>
      <p:ext uri="{BB962C8B-B14F-4D97-AF65-F5344CB8AC3E}">
        <p14:creationId xmlns:p14="http://schemas.microsoft.com/office/powerpoint/2010/main" val="181686657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8E543-451E-487E-BCA4-0C952FB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E72E-88D0-479F-8534-619BE77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8343-E3DF-4677-9EE2-75101D0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Wrap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C6E6-502B-4B58-BFEE-58C3694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31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CE072-0E1A-4EE7-99EE-C405F234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Wrap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EC0D1-FFB5-405F-AE89-67F1776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Atlas: replace the corpus, keep the discipline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AEA6C-E8E9-4DBF-855A-302AF6B3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1131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AAAB8-426F-4DDC-B9C8-046107B8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Swap in your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37ACF-40AA-47AE-BC2B-449BFD2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support docs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product docs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sales playbooks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policies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runbooks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PDFs or wiki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D8114-DBF0-4199-9239-1DFB9799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5267325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16181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E0F08-B655-4B62-B72A-A984733A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4733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Keep the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0208E-C34D-4B2B-93BE-55F1600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733925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start naive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measure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fix failure modes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route hard queries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1950" b="0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- grow the goldset</a:t>
            </a:r>
          </a:p>
        </p:txBody>
      </p:sp>
    </p:spTree>
    <p:extLst>
      <p:ext uri="{BB962C8B-B14F-4D97-AF65-F5344CB8AC3E}">
        <p14:creationId xmlns:p14="http://schemas.microsoft.com/office/powerpoint/2010/main" val="13128049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D77B4-F6FF-4536-BF84-1361DB01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39CC4-EF40-4786-953D-CA9B7AA4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4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A8388-2318-4739-AA52-E2920F3E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84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9CA3AF"/>
                </a:solidFill>
                <a:latin typeface="Fira Sans"/>
                <a:ea typeface="Fira Sans"/>
                <a:cs typeface="Fira Sans"/>
              </a:rPr>
              <a:t>OUTSKILL  /  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75AC-D42B-48F3-8E74-2C9309E2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125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32 /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435AD-EB0A-46C7-ADB9-90483E2D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80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3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3219-0B40-49B3-85E1-767FEA5E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"/>
            <a:ext cx="872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1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Final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14B63-B17F-43B4-B22B-00AABE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01350" cy="4038600"/>
          </a:xfrm>
          <a:prstGeom xmlns:a="http://schemas.openxmlformats.org/drawingml/2006/main" prst="roundRect">
            <a:avLst>
              <a:gd name="adj" fmla="val 472"/>
            </a:avLst>
          </a:prstGeom>
          <a:solidFill xmlns:a="http://schemas.openxmlformats.org/drawingml/2006/main">
            <a:srgbClr val="06180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20794-4190-4620-B759-F5689AC1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0001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450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RAG is a discipline for grounding an intelligent model in the right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300D9-9B4C-4241-B529-8566B397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1000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B8EF43"/>
                </a:solidFill>
                <a:latin typeface="Fira Sans"/>
                <a:ea typeface="Fira Sans"/>
                <a:cs typeface="Fira Sans"/>
              </a:rPr>
              <a:t>The LLM gives language. Retrieval gives evidence. Evaluation tells you whether it is improving.</a:t>
            </a:r>
          </a:p>
        </p:txBody>
      </p:sp>
    </p:spTree>
    <p:extLst>
      <p:ext uri="{BB962C8B-B14F-4D97-AF65-F5344CB8AC3E}">
        <p14:creationId xmlns:p14="http://schemas.microsoft.com/office/powerpoint/2010/main" val="48199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2026-05-02T04:29:05.1760000Z</dcterms:created>
  <dcterms:modified xsi:type="dcterms:W3CDTF">2026-05-02T04:29:05.1770000Z</dcterms:modified>
</coreProperties>
</file>